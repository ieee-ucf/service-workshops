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embeddedFontLst>
    <p:embeddedFont>
      <p:font typeface="Ruda Black"/>
      <p:bold r:id="rId46"/>
    </p:embeddedFont>
    <p:embeddedFont>
      <p:font typeface="Outfit"/>
      <p:regular r:id="rId47"/>
      <p:bold r:id="rId48"/>
    </p:embeddedFont>
    <p:embeddedFont>
      <p:font typeface="Outfit SemiBold"/>
      <p:regular r:id="rId49"/>
      <p:bold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504">
          <p15:clr>
            <a:srgbClr val="747775"/>
          </p15:clr>
        </p15:guide>
      </p15:sldGuideLst>
    </p:ext>
    <p:ext uri="GoogleSlidesCustomDataVersion2">
      <go:slidesCustomData xmlns:go="http://customooxmlschemas.google.com/" r:id="rId51" roundtripDataSignature="AMtx7miXkP8DQCkaFUGfbVu8Rt3B979bU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Francesca Pham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5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RudaBlack-bold.fntdata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48" Type="http://schemas.openxmlformats.org/officeDocument/2006/relationships/font" Target="fonts/Outfit-bold.fntdata"/><Relationship Id="rId47" Type="http://schemas.openxmlformats.org/officeDocument/2006/relationships/font" Target="fonts/Outfit-regular.fntdata"/><Relationship Id="rId49" Type="http://schemas.openxmlformats.org/officeDocument/2006/relationships/font" Target="fonts/Outfit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customschemas.google.com/relationships/presentationmetadata" Target="metadata"/><Relationship Id="rId50" Type="http://schemas.openxmlformats.org/officeDocument/2006/relationships/font" Target="fonts/Outfit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7-01T18:12:57.299">
    <p:pos x="6000" y="0"/>
    <p:text>i think it would be fun to make backgrounds to reference music related games for kids to be engaged (ex. Friday Night Funkin) lmk what y'all think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k5unKPE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Make small talk to ease the audience (ex. Hows your lunch)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What music do you like? How *do* you listen to music (speaker? headphones?)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Objective: Today, we will create a speaker with simple components: coil of wire, magnet, electricity and create our own paper speakers :D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Credibility: We are the Institute of Electrical and Electronics Engineers!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2d2e73d0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2d2e73d0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Vienna Slide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2d2e73d0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IEEE is an engineering student organization in UCF we host workshops and projects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DO NOT go into depth; questions at the end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Introduce Volunteers</a:t>
            </a:r>
            <a:endParaRPr/>
          </a:p>
        </p:txBody>
      </p:sp>
      <p:sp>
        <p:nvSpPr>
          <p:cNvPr id="66" name="Google Shape;66;g362d2e73d08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2d2e73d08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2d2e73d08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Vienna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“Who here has heard about sound waves ? What can you tell me about them”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Forshadow; DO NOT ANSWER </a:t>
            </a:r>
            <a:br>
              <a:rPr lang="en"/>
            </a:br>
            <a:r>
              <a:rPr lang="en"/>
              <a:t>Wavy air </a:t>
            </a:r>
            <a:br>
              <a:rPr lang="en"/>
            </a:br>
            <a:r>
              <a:rPr lang="en"/>
              <a:t>All we need to know is that soundwaves have frequency and amplitude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So what is a speaker ? </a:t>
            </a:r>
            <a:br>
              <a:rPr lang="en"/>
            </a:br>
            <a:r>
              <a:rPr lang="en"/>
              <a:t>Piston pushes air tehe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Foreshadow: DO NOT ANWER</a:t>
            </a:r>
            <a:br>
              <a:rPr lang="en"/>
            </a:br>
            <a:r>
              <a:rPr lang="en"/>
              <a:t>We have some digital, electronic input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2d2e73d08_5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2d2e73d08_5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Vienna Slide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2d2e73d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62d2e73d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Transition: Let’s begin by learning about how magnetic fields work.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2d2e73d0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2d2e73d0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2d2e73d08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62d2e73d08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2d2e73d08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2d2e73d08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Vienna Slide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2d2e73d0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62d2e73d0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2d2e73d0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62d2e73d0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2d2e73d0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62d2e73d0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2d2e73d08_5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2d2e73d08_5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e4796a3a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e4796a3a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2d2e73d08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62d2e73d08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Vienna Slide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2d2e73d0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62d2e73d0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2d2e73d0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2d2e73d0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2f29833e7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2f29833e7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2d2e73d0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2d2e73d0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2bea2ec7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62bea2ec7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c1a18a1d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6c1a18a1d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6e4796a3a2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6e4796a3a2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6e4796a3a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6e4796a3a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62d2e73d0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62d2e73d0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62d2e73d0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62d2e73d0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8.jp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9.png"/><Relationship Id="rId11" Type="http://schemas.openxmlformats.org/officeDocument/2006/relationships/image" Target="../media/image17.jpg"/><Relationship Id="rId10" Type="http://schemas.openxmlformats.org/officeDocument/2006/relationships/image" Target="../media/image37.png"/><Relationship Id="rId9" Type="http://schemas.openxmlformats.org/officeDocument/2006/relationships/image" Target="../media/image21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gif"/><Relationship Id="rId4" Type="http://schemas.openxmlformats.org/officeDocument/2006/relationships/image" Target="../media/image5.gif"/><Relationship Id="rId5" Type="http://schemas.openxmlformats.org/officeDocument/2006/relationships/image" Target="../media/image2.gif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Relationship Id="rId4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9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4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874450"/>
            <a:ext cx="9144000" cy="2859300"/>
          </a:xfrm>
          <a:prstGeom prst="rect">
            <a:avLst/>
          </a:prstGeom>
          <a:solidFill>
            <a:srgbClr val="000000">
              <a:alpha val="6499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>
            <p:ph type="ctrTitle"/>
          </p:nvPr>
        </p:nvSpPr>
        <p:spPr>
          <a:xfrm>
            <a:off x="1063008" y="5191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eats by YOU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311700" y="29411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Presented by IEEE @ UCF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6090" y="1199625"/>
            <a:ext cx="1789450" cy="178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2d2e73d08_2_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62d2e73d08_2_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g362d2e73d08_1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1576" y="2853377"/>
            <a:ext cx="1551893" cy="1551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62d2e73d08_1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82110" y="2930203"/>
            <a:ext cx="1370825" cy="1398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62d2e73d08_1_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576150" y="372237"/>
            <a:ext cx="5393825" cy="542092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362d2e73d08_1_5"/>
          <p:cNvSpPr txBox="1"/>
          <p:nvPr/>
        </p:nvSpPr>
        <p:spPr>
          <a:xfrm>
            <a:off x="2774232" y="1044468"/>
            <a:ext cx="48777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0"/>
              <a:buFont typeface="Arial"/>
              <a:buNone/>
            </a:pPr>
            <a:r>
              <a:rPr b="0" i="0" lang="en" sz="6100" u="none" cap="none" strike="noStrike">
                <a:solidFill>
                  <a:srgbClr val="D9D9D9"/>
                </a:solidFill>
                <a:latin typeface="Ruda Black"/>
                <a:ea typeface="Ruda Black"/>
                <a:cs typeface="Ruda Black"/>
                <a:sym typeface="Ruda Black"/>
              </a:rPr>
              <a:t>IEEE     UCF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g362d2e73d08_1_5"/>
          <p:cNvPicPr preferRelativeResize="0"/>
          <p:nvPr/>
        </p:nvPicPr>
        <p:blipFill rotWithShape="1">
          <a:blip r:embed="rId7">
            <a:alphaModFix/>
          </a:blip>
          <a:srcRect b="0" l="0" r="68745" t="2008"/>
          <a:stretch/>
        </p:blipFill>
        <p:spPr>
          <a:xfrm>
            <a:off x="4887354" y="1273960"/>
            <a:ext cx="767120" cy="70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g362d2e73d08_1_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41499" y="71582"/>
            <a:ext cx="5953180" cy="88553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62d2e73d08_1_5"/>
          <p:cNvSpPr txBox="1"/>
          <p:nvPr/>
        </p:nvSpPr>
        <p:spPr>
          <a:xfrm>
            <a:off x="465574" y="2182055"/>
            <a:ext cx="8909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I n s t i t u t e   o f   E l e c t r i c a l  a n d  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E l e c t r o n i c s  E n g i n e e r 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62d2e73d08_1_5"/>
          <p:cNvSpPr txBox="1"/>
          <p:nvPr/>
        </p:nvSpPr>
        <p:spPr>
          <a:xfrm>
            <a:off x="3741499" y="4422951"/>
            <a:ext cx="105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D9D9D9"/>
                </a:solidFill>
                <a:latin typeface="Ruda Black"/>
                <a:ea typeface="Ruda Black"/>
                <a:cs typeface="Ruda Black"/>
                <a:sym typeface="Ruda Black"/>
              </a:rPr>
              <a:t>Social Media!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62d2e73d08_1_5"/>
          <p:cNvSpPr txBox="1"/>
          <p:nvPr/>
        </p:nvSpPr>
        <p:spPr>
          <a:xfrm>
            <a:off x="-2191668" y="287443"/>
            <a:ext cx="8909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ADVANCING TECHNOLOGY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FOR HUMANITY!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g362d2e73d08_1_5"/>
          <p:cNvPicPr preferRelativeResize="0"/>
          <p:nvPr/>
        </p:nvPicPr>
        <p:blipFill rotWithShape="1">
          <a:blip r:embed="rId9">
            <a:alphaModFix/>
          </a:blip>
          <a:srcRect b="0" l="0" r="0" t="50000"/>
          <a:stretch/>
        </p:blipFill>
        <p:spPr>
          <a:xfrm>
            <a:off x="6455013" y="3733247"/>
            <a:ext cx="1551900" cy="1379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62d2e73d08_1_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900006">
            <a:off x="7665262" y="2313172"/>
            <a:ext cx="1288789" cy="171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g362d2e73d08_1_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-899991">
            <a:off x="5403535" y="2776996"/>
            <a:ext cx="1701257" cy="1275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2d2e73d08_2_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62d2e73d08_2_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1478100" y="656500"/>
            <a:ext cx="618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20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What is sound?</a:t>
            </a:r>
            <a:endParaRPr sz="3820">
              <a:solidFill>
                <a:schemeClr val="lt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0300" y="1686600"/>
            <a:ext cx="3923400" cy="236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1478100" y="656500"/>
            <a:ext cx="618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20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What is a speaker ?</a:t>
            </a:r>
            <a:endParaRPr sz="3820">
              <a:solidFill>
                <a:schemeClr val="lt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150" y="2047788"/>
            <a:ext cx="1742000" cy="10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2047875" y="2422650"/>
            <a:ext cx="396300" cy="29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4175" y="1725708"/>
            <a:ext cx="1742000" cy="169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33207" y="2001852"/>
            <a:ext cx="2147743" cy="125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4186175" y="2422650"/>
            <a:ext cx="396300" cy="29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9000" y="177795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>
            <a:off x="7239000" y="2422638"/>
            <a:ext cx="396300" cy="29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2d2e73d08_5_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62d2e73d08_5_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2d2e73d08_0_0"/>
          <p:cNvSpPr/>
          <p:nvPr/>
        </p:nvSpPr>
        <p:spPr>
          <a:xfrm>
            <a:off x="0" y="874450"/>
            <a:ext cx="9144000" cy="2859300"/>
          </a:xfrm>
          <a:prstGeom prst="rect">
            <a:avLst/>
          </a:prstGeom>
          <a:solidFill>
            <a:srgbClr val="000000">
              <a:alpha val="6499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62d2e73d08_0_0"/>
          <p:cNvSpPr txBox="1"/>
          <p:nvPr>
            <p:ph type="ctrTitle"/>
          </p:nvPr>
        </p:nvSpPr>
        <p:spPr>
          <a:xfrm>
            <a:off x="311708" y="10215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Magnetic Field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2d2e73d08_0_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Magnetic Fields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1" name="Google Shape;121;g362d2e73d08_0_49"/>
          <p:cNvSpPr txBox="1"/>
          <p:nvPr>
            <p:ph idx="1" type="body"/>
          </p:nvPr>
        </p:nvSpPr>
        <p:spPr>
          <a:xfrm>
            <a:off x="311700" y="1164050"/>
            <a:ext cx="366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What are magnets?</a:t>
            </a:r>
            <a:endParaRPr sz="2400">
              <a:solidFill>
                <a:schemeClr val="lt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</a:pPr>
            <a:r>
              <a:rPr lang="en" sz="2400">
                <a:solidFill>
                  <a:schemeClr val="lt1"/>
                </a:solidFill>
              </a:rPr>
              <a:t>North and South Pole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“Invisible forces” from North to South poles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id="122" name="Google Shape;122;g362d2e73d08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8375" y="246537"/>
            <a:ext cx="4650425" cy="465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2d2e73d08_2_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Magnet Types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8" name="Google Shape;128;g362d2e73d08_2_33"/>
          <p:cNvSpPr txBox="1"/>
          <p:nvPr>
            <p:ph idx="1" type="body"/>
          </p:nvPr>
        </p:nvSpPr>
        <p:spPr>
          <a:xfrm>
            <a:off x="311700" y="1177125"/>
            <a:ext cx="3665100" cy="12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en" sz="2200">
                <a:solidFill>
                  <a:schemeClr val="lt1"/>
                </a:solidFill>
              </a:rPr>
              <a:t>Permanent</a:t>
            </a:r>
            <a:endParaRPr sz="2200">
              <a:solidFill>
                <a:schemeClr val="lt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</a:pPr>
            <a:r>
              <a:rPr lang="en" sz="2200">
                <a:solidFill>
                  <a:schemeClr val="lt1"/>
                </a:solidFill>
              </a:rPr>
              <a:t>“Always on”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129" name="Google Shape;129;g362d2e73d08_2_33"/>
          <p:cNvSpPr txBox="1"/>
          <p:nvPr/>
        </p:nvSpPr>
        <p:spPr>
          <a:xfrm>
            <a:off x="311700" y="273535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 sz="2000">
                <a:solidFill>
                  <a:schemeClr val="lt1"/>
                </a:solidFill>
              </a:rPr>
              <a:t>Electromagnet</a:t>
            </a:r>
            <a:endParaRPr sz="2000">
              <a:solidFill>
                <a:schemeClr val="lt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</a:pPr>
            <a:r>
              <a:rPr lang="en" sz="2000">
                <a:solidFill>
                  <a:schemeClr val="lt1"/>
                </a:solidFill>
              </a:rPr>
              <a:t>Current runs through coil</a:t>
            </a:r>
            <a:endParaRPr sz="2000">
              <a:solidFill>
                <a:schemeClr val="lt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</a:pPr>
            <a:r>
              <a:rPr lang="en" sz="2000">
                <a:solidFill>
                  <a:schemeClr val="lt1"/>
                </a:solidFill>
              </a:rPr>
              <a:t>Electromagnetic field generated</a:t>
            </a:r>
            <a:endParaRPr sz="2000"/>
          </a:p>
        </p:txBody>
      </p:sp>
      <p:cxnSp>
        <p:nvCxnSpPr>
          <p:cNvPr id="130" name="Google Shape;130;g362d2e73d08_2_33"/>
          <p:cNvCxnSpPr/>
          <p:nvPr/>
        </p:nvCxnSpPr>
        <p:spPr>
          <a:xfrm>
            <a:off x="471150" y="2381975"/>
            <a:ext cx="337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1" name="Google Shape;131;g362d2e73d08_2_33"/>
          <p:cNvPicPr preferRelativeResize="0"/>
          <p:nvPr/>
        </p:nvPicPr>
        <p:blipFill rotWithShape="1">
          <a:blip r:embed="rId3">
            <a:alphaModFix/>
          </a:blip>
          <a:srcRect b="0" l="0" r="66204" t="0"/>
          <a:stretch/>
        </p:blipFill>
        <p:spPr>
          <a:xfrm>
            <a:off x="6853100" y="1663425"/>
            <a:ext cx="1931426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62d2e73d08_2_33"/>
          <p:cNvPicPr preferRelativeResize="0"/>
          <p:nvPr/>
        </p:nvPicPr>
        <p:blipFill rotWithShape="1">
          <a:blip r:embed="rId3">
            <a:alphaModFix/>
          </a:blip>
          <a:srcRect b="0" l="69397" r="0" t="0"/>
          <a:stretch/>
        </p:blipFill>
        <p:spPr>
          <a:xfrm>
            <a:off x="4496149" y="1338050"/>
            <a:ext cx="2318476" cy="3005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2d2e73d08_2_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62d2e73d08_2_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2d2e73d08_0_5"/>
          <p:cNvSpPr/>
          <p:nvPr/>
        </p:nvSpPr>
        <p:spPr>
          <a:xfrm>
            <a:off x="0" y="874450"/>
            <a:ext cx="9144000" cy="2859300"/>
          </a:xfrm>
          <a:prstGeom prst="rect">
            <a:avLst/>
          </a:prstGeom>
          <a:solidFill>
            <a:srgbClr val="000000">
              <a:alpha val="6499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62d2e73d08_0_5"/>
          <p:cNvSpPr txBox="1"/>
          <p:nvPr>
            <p:ph type="ctrTitle"/>
          </p:nvPr>
        </p:nvSpPr>
        <p:spPr>
          <a:xfrm>
            <a:off x="311708" y="10215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Electromagnetic Movement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2d2e73d08_0_89"/>
          <p:cNvSpPr txBox="1"/>
          <p:nvPr>
            <p:ph type="title"/>
          </p:nvPr>
        </p:nvSpPr>
        <p:spPr>
          <a:xfrm>
            <a:off x="311700" y="431900"/>
            <a:ext cx="3562200" cy="57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Electromagnetic Forces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150" name="Google Shape;150;g362d2e73d08_0_89"/>
          <p:cNvSpPr txBox="1"/>
          <p:nvPr>
            <p:ph idx="1" type="body"/>
          </p:nvPr>
        </p:nvSpPr>
        <p:spPr>
          <a:xfrm>
            <a:off x="311700" y="1643700"/>
            <a:ext cx="3275400" cy="18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Same poles repel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Opposite poles attract</a:t>
            </a:r>
            <a:endParaRPr sz="2400" u="sng">
              <a:solidFill>
                <a:schemeClr val="lt1"/>
              </a:solidFill>
            </a:endParaRPr>
          </a:p>
        </p:txBody>
      </p:sp>
      <p:pic>
        <p:nvPicPr>
          <p:cNvPr id="151" name="Google Shape;151;g362d2e73d08_0_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2775" y="1126950"/>
            <a:ext cx="4310701" cy="323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2d2e73d08_0_7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Right Hand Rule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7" name="Google Shape;157;g362d2e73d08_0_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500" y="1548775"/>
            <a:ext cx="495300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2d2e73d08_5_8"/>
          <p:cNvSpPr txBox="1"/>
          <p:nvPr>
            <p:ph type="title"/>
          </p:nvPr>
        </p:nvSpPr>
        <p:spPr>
          <a:xfrm>
            <a:off x="311700" y="431900"/>
            <a:ext cx="5451900" cy="57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Electromagnetic Forces in Speakers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163" name="Google Shape;163;g362d2e73d08_5_8"/>
          <p:cNvSpPr txBox="1"/>
          <p:nvPr>
            <p:ph idx="1" type="body"/>
          </p:nvPr>
        </p:nvSpPr>
        <p:spPr>
          <a:xfrm>
            <a:off x="311700" y="1228800"/>
            <a:ext cx="3810000" cy="26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Cone: amplifier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Coil: electromagnet 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Permanent</a:t>
            </a:r>
            <a:r>
              <a:rPr lang="en" sz="2400">
                <a:solidFill>
                  <a:schemeClr val="lt1"/>
                </a:solidFill>
              </a:rPr>
              <a:t> Magnet: Reacts with the coil to attract/repel</a:t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id="164" name="Google Shape;164;g362d2e73d08_5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4650" y="1228800"/>
            <a:ext cx="381000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e4796a3a2_0_3"/>
          <p:cNvSpPr txBox="1"/>
          <p:nvPr>
            <p:ph type="title"/>
          </p:nvPr>
        </p:nvSpPr>
        <p:spPr>
          <a:xfrm>
            <a:off x="311700" y="431900"/>
            <a:ext cx="5451900" cy="57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Electromagnetic Forces in Speakers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170" name="Google Shape;170;g36e4796a3a2_0_3"/>
          <p:cNvSpPr txBox="1"/>
          <p:nvPr>
            <p:ph idx="1" type="body"/>
          </p:nvPr>
        </p:nvSpPr>
        <p:spPr>
          <a:xfrm>
            <a:off x="311700" y="1228800"/>
            <a:ext cx="4212600" cy="26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 sz="2000">
                <a:solidFill>
                  <a:schemeClr val="lt1"/>
                </a:solidFill>
              </a:rPr>
              <a:t>Your device sends an electric signal that continuously </a:t>
            </a:r>
            <a:r>
              <a:rPr lang="en" sz="2000">
                <a:solidFill>
                  <a:schemeClr val="lt1"/>
                </a:solidFill>
              </a:rPr>
              <a:t>sends</a:t>
            </a:r>
            <a:r>
              <a:rPr lang="en" sz="2000">
                <a:solidFill>
                  <a:schemeClr val="lt1"/>
                </a:solidFill>
              </a:rPr>
              <a:t> varying current 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 sz="2000">
                <a:solidFill>
                  <a:schemeClr val="lt1"/>
                </a:solidFill>
              </a:rPr>
              <a:t>The alternating current creates a changing magnetic field around the current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71" name="Google Shape;171;g36e4796a3a2_0_3"/>
          <p:cNvSpPr txBox="1"/>
          <p:nvPr/>
        </p:nvSpPr>
        <p:spPr>
          <a:xfrm>
            <a:off x="311700" y="3859875"/>
            <a:ext cx="36522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lt1"/>
                </a:solidFill>
              </a:rPr>
              <a:t>These forces create vibrations</a:t>
            </a:r>
            <a:endParaRPr i="1" sz="2400">
              <a:solidFill>
                <a:schemeClr val="lt1"/>
              </a:solidFill>
            </a:endParaRPr>
          </a:p>
        </p:txBody>
      </p:sp>
      <p:pic>
        <p:nvPicPr>
          <p:cNvPr descr="File:Plug microphone into laptop computer.jpg - Wikimedia Commons" id="172" name="Google Shape;172;g36e4796a3a2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150" y="1228800"/>
            <a:ext cx="4094940" cy="307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2d2e73d08_2_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62d2e73d08_2_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2d2e73d08_0_10"/>
          <p:cNvSpPr/>
          <p:nvPr/>
        </p:nvSpPr>
        <p:spPr>
          <a:xfrm>
            <a:off x="0" y="874450"/>
            <a:ext cx="9144000" cy="2859300"/>
          </a:xfrm>
          <a:prstGeom prst="rect">
            <a:avLst/>
          </a:prstGeom>
          <a:solidFill>
            <a:srgbClr val="000000">
              <a:alpha val="6499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62d2e73d08_0_10"/>
          <p:cNvSpPr txBox="1"/>
          <p:nvPr>
            <p:ph type="ctrTitle"/>
          </p:nvPr>
        </p:nvSpPr>
        <p:spPr>
          <a:xfrm>
            <a:off x="311708" y="10215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Generation of Sound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2d2e73d08_0_9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Speaker Cone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0" name="Google Shape;190;g362d2e73d08_0_99"/>
          <p:cNvSpPr txBox="1"/>
          <p:nvPr>
            <p:ph idx="1" type="body"/>
          </p:nvPr>
        </p:nvSpPr>
        <p:spPr>
          <a:xfrm>
            <a:off x="311700" y="1389600"/>
            <a:ext cx="4472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 sz="2000">
                <a:solidFill>
                  <a:schemeClr val="lt1"/>
                </a:solidFill>
              </a:rPr>
              <a:t>Coil vibrates, vibrates the cone</a:t>
            </a:r>
            <a:endParaRPr sz="2000">
              <a:solidFill>
                <a:schemeClr val="lt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</a:pPr>
            <a:r>
              <a:rPr lang="en" sz="2000">
                <a:solidFill>
                  <a:schemeClr val="lt1"/>
                </a:solidFill>
              </a:rPr>
              <a:t>Pushes and pulls molecules</a:t>
            </a:r>
            <a:endParaRPr sz="20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 sz="2000">
                <a:solidFill>
                  <a:schemeClr val="lt1"/>
                </a:solidFill>
              </a:rPr>
              <a:t>Sound waves are generated!</a:t>
            </a:r>
            <a:endParaRPr sz="2000">
              <a:solidFill>
                <a:schemeClr val="lt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</a:pPr>
            <a:r>
              <a:rPr lang="en" sz="2000">
                <a:solidFill>
                  <a:schemeClr val="lt1"/>
                </a:solidFill>
              </a:rPr>
              <a:t>Sound: a body (ex. speaker) that causes molecules to vibrate through a medium 	(ex. air)</a:t>
            </a:r>
            <a:endParaRPr sz="2000">
              <a:solidFill>
                <a:schemeClr val="lt1"/>
              </a:solidFill>
            </a:endParaRPr>
          </a:p>
        </p:txBody>
      </p:sp>
      <p:pic>
        <p:nvPicPr>
          <p:cNvPr id="191" name="Google Shape;191;g362d2e73d08_0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0025" y="428300"/>
            <a:ext cx="4055100" cy="403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2d2e73d08_0_1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Sound is a wave (cont.)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1" name="Google Shape;201;g362d2e73d08_0_110"/>
          <p:cNvSpPr txBox="1"/>
          <p:nvPr>
            <p:ph idx="1" type="body"/>
          </p:nvPr>
        </p:nvSpPr>
        <p:spPr>
          <a:xfrm>
            <a:off x="311700" y="1088650"/>
            <a:ext cx="3291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2400">
                <a:solidFill>
                  <a:schemeClr val="lt1"/>
                </a:solidFill>
              </a:rPr>
              <a:t>Vibrations speed determine pitch and frequency</a:t>
            </a:r>
            <a:endParaRPr sz="2400">
              <a:solidFill>
                <a:schemeClr val="lt1"/>
              </a:solidFill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2400">
                <a:solidFill>
                  <a:schemeClr val="lt1"/>
                </a:solidFill>
              </a:rPr>
              <a:t>Amplitude determines intensity</a:t>
            </a:r>
            <a:endParaRPr sz="2400">
              <a:solidFill>
                <a:schemeClr val="lt1"/>
              </a:solidFill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2400">
                <a:solidFill>
                  <a:schemeClr val="lt1"/>
                </a:solidFill>
              </a:rPr>
              <a:t>What’s the equation for frequency?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202" name="Google Shape;202;g362d2e73d08_0_110"/>
          <p:cNvSpPr txBox="1"/>
          <p:nvPr>
            <p:ph idx="1" type="body"/>
          </p:nvPr>
        </p:nvSpPr>
        <p:spPr>
          <a:xfrm>
            <a:off x="1010150" y="4090300"/>
            <a:ext cx="63585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speed/wavelength = frequency</a:t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id="203" name="Google Shape;203;g362d2e73d08_0_110"/>
          <p:cNvPicPr preferRelativeResize="0"/>
          <p:nvPr/>
        </p:nvPicPr>
        <p:blipFill rotWithShape="1">
          <a:blip r:embed="rId3">
            <a:alphaModFix/>
          </a:blip>
          <a:srcRect b="-5876" l="0" r="-9015" t="20340"/>
          <a:stretch/>
        </p:blipFill>
        <p:spPr>
          <a:xfrm>
            <a:off x="4333875" y="1272888"/>
            <a:ext cx="4179523" cy="211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2bea2ec7b_0_10"/>
          <p:cNvSpPr/>
          <p:nvPr/>
        </p:nvSpPr>
        <p:spPr>
          <a:xfrm>
            <a:off x="0" y="874450"/>
            <a:ext cx="9144000" cy="2859300"/>
          </a:xfrm>
          <a:prstGeom prst="rect">
            <a:avLst/>
          </a:prstGeom>
          <a:solidFill>
            <a:srgbClr val="000000">
              <a:alpha val="6499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62bea2ec7b_0_10"/>
          <p:cNvSpPr txBox="1"/>
          <p:nvPr>
            <p:ph type="ctrTitle"/>
          </p:nvPr>
        </p:nvSpPr>
        <p:spPr>
          <a:xfrm>
            <a:off x="3147000" y="1778650"/>
            <a:ext cx="28500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Hit Play!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1645925" y="954050"/>
            <a:ext cx="3471900" cy="348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12"/>
          <p:cNvPicPr preferRelativeResize="0"/>
          <p:nvPr/>
        </p:nvPicPr>
        <p:blipFill rotWithShape="1">
          <a:blip r:embed="rId3">
            <a:alphaModFix/>
          </a:blip>
          <a:srcRect b="49169" l="0" r="41540" t="18002"/>
          <a:stretch/>
        </p:blipFill>
        <p:spPr>
          <a:xfrm>
            <a:off x="1645925" y="2124988"/>
            <a:ext cx="3340924" cy="114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2"/>
          <p:cNvSpPr txBox="1"/>
          <p:nvPr>
            <p:ph type="title"/>
          </p:nvPr>
        </p:nvSpPr>
        <p:spPr>
          <a:xfrm>
            <a:off x="3782100" y="227575"/>
            <a:ext cx="157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Step 1</a:t>
            </a:r>
            <a:endParaRPr b="1" sz="3320">
              <a:solidFill>
                <a:schemeClr val="lt1"/>
              </a:solidFill>
            </a:endParaRPr>
          </a:p>
        </p:txBody>
      </p:sp>
      <p:pic>
        <p:nvPicPr>
          <p:cNvPr id="217" name="Google Shape;217;p12"/>
          <p:cNvPicPr preferRelativeResize="0"/>
          <p:nvPr/>
        </p:nvPicPr>
        <p:blipFill rotWithShape="1">
          <a:blip r:embed="rId3">
            <a:alphaModFix/>
          </a:blip>
          <a:srcRect b="0" l="58425" r="0" t="0"/>
          <a:stretch/>
        </p:blipFill>
        <p:spPr>
          <a:xfrm>
            <a:off x="5053500" y="953975"/>
            <a:ext cx="2376000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 txBox="1"/>
          <p:nvPr/>
        </p:nvSpPr>
        <p:spPr>
          <a:xfrm>
            <a:off x="3066500" y="2466200"/>
            <a:ext cx="8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Folds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5750800" y="1110950"/>
            <a:ext cx="8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5853675" y="3269425"/>
            <a:ext cx="101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Bottom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c1a18a1da_1_0"/>
          <p:cNvSpPr txBox="1"/>
          <p:nvPr>
            <p:ph type="title"/>
          </p:nvPr>
        </p:nvSpPr>
        <p:spPr>
          <a:xfrm>
            <a:off x="125" y="16405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920"/>
              <a:t>First steps :</a:t>
            </a:r>
            <a:endParaRPr b="1" sz="3920"/>
          </a:p>
        </p:txBody>
      </p:sp>
      <p:pic>
        <p:nvPicPr>
          <p:cNvPr id="226" name="Google Shape;226;g36c1a18a1da_1_0"/>
          <p:cNvPicPr preferRelativeResize="0"/>
          <p:nvPr/>
        </p:nvPicPr>
        <p:blipFill rotWithShape="1">
          <a:blip r:embed="rId4">
            <a:alphaModFix/>
          </a:blip>
          <a:srcRect b="0" l="0" r="66204" t="0"/>
          <a:stretch/>
        </p:blipFill>
        <p:spPr>
          <a:xfrm>
            <a:off x="1714500" y="1697075"/>
            <a:ext cx="1931425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6c1a18a1da_1_0"/>
          <p:cNvPicPr preferRelativeResize="0"/>
          <p:nvPr/>
        </p:nvPicPr>
        <p:blipFill rotWithShape="1">
          <a:blip r:embed="rId4">
            <a:alphaModFix/>
          </a:blip>
          <a:srcRect b="0" l="35546" r="0" t="0"/>
          <a:stretch/>
        </p:blipFill>
        <p:spPr>
          <a:xfrm>
            <a:off x="3821125" y="1697075"/>
            <a:ext cx="3683475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9525" y="1354300"/>
            <a:ext cx="4364951" cy="357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4"/>
          <p:cNvSpPr txBox="1"/>
          <p:nvPr>
            <p:ph type="title"/>
          </p:nvPr>
        </p:nvSpPr>
        <p:spPr>
          <a:xfrm>
            <a:off x="0" y="53000"/>
            <a:ext cx="9144000" cy="12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Step 2</a:t>
            </a:r>
            <a:endParaRPr b="1" sz="332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Wrap (A) strip around magnet and glue</a:t>
            </a:r>
            <a:endParaRPr b="1" sz="33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"/>
          <p:cNvSpPr txBox="1"/>
          <p:nvPr>
            <p:ph type="title"/>
          </p:nvPr>
        </p:nvSpPr>
        <p:spPr>
          <a:xfrm>
            <a:off x="3699600" y="164050"/>
            <a:ext cx="174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Step 3</a:t>
            </a:r>
            <a:endParaRPr b="1" sz="3320">
              <a:solidFill>
                <a:schemeClr val="lt1"/>
              </a:solidFill>
            </a:endParaRPr>
          </a:p>
        </p:txBody>
      </p:sp>
      <p:sp>
        <p:nvSpPr>
          <p:cNvPr id="239" name="Google Shape;239;p15"/>
          <p:cNvSpPr txBox="1"/>
          <p:nvPr>
            <p:ph type="title"/>
          </p:nvPr>
        </p:nvSpPr>
        <p:spPr>
          <a:xfrm>
            <a:off x="-75" y="65502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Wrap (B) strip around (A)</a:t>
            </a:r>
            <a:endParaRPr b="1" sz="3320">
              <a:solidFill>
                <a:schemeClr val="lt1"/>
              </a:solidFill>
            </a:endParaRPr>
          </a:p>
        </p:txBody>
      </p:sp>
      <p:pic>
        <p:nvPicPr>
          <p:cNvPr id="240" name="Google Shape;24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6788" y="1328575"/>
            <a:ext cx="4290267" cy="361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5"/>
          <p:cNvSpPr txBox="1"/>
          <p:nvPr>
            <p:ph type="title"/>
          </p:nvPr>
        </p:nvSpPr>
        <p:spPr>
          <a:xfrm>
            <a:off x="-75" y="3885450"/>
            <a:ext cx="4895100" cy="1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rgbClr val="FF0000"/>
                </a:solidFill>
              </a:rPr>
              <a:t>DO NOT GLUE ONTO (A)</a:t>
            </a:r>
            <a:endParaRPr b="1" sz="332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"/>
          <p:cNvSpPr txBox="1"/>
          <p:nvPr>
            <p:ph type="title"/>
          </p:nvPr>
        </p:nvSpPr>
        <p:spPr>
          <a:xfrm>
            <a:off x="3766500" y="0"/>
            <a:ext cx="16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Step 2</a:t>
            </a:r>
            <a:endParaRPr b="1" sz="3320">
              <a:solidFill>
                <a:schemeClr val="lt1"/>
              </a:solidFill>
            </a:endParaRPr>
          </a:p>
        </p:txBody>
      </p:sp>
      <p:sp>
        <p:nvSpPr>
          <p:cNvPr id="247" name="Google Shape;247;p16"/>
          <p:cNvSpPr txBox="1"/>
          <p:nvPr>
            <p:ph type="title"/>
          </p:nvPr>
        </p:nvSpPr>
        <p:spPr>
          <a:xfrm>
            <a:off x="0" y="49097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Wrap wire 100 times around the small cylinder </a:t>
            </a:r>
            <a:endParaRPr b="1" sz="3320">
              <a:solidFill>
                <a:schemeClr val="lt1"/>
              </a:solidFill>
            </a:endParaRPr>
          </a:p>
        </p:txBody>
      </p:sp>
      <p:pic>
        <p:nvPicPr>
          <p:cNvPr id="248" name="Google Shape;2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1644050"/>
            <a:ext cx="5715000" cy="32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"/>
          <p:cNvSpPr txBox="1"/>
          <p:nvPr>
            <p:ph type="title"/>
          </p:nvPr>
        </p:nvSpPr>
        <p:spPr>
          <a:xfrm>
            <a:off x="3699600" y="164050"/>
            <a:ext cx="174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Step 3</a:t>
            </a:r>
            <a:endParaRPr b="1" sz="3320">
              <a:solidFill>
                <a:schemeClr val="lt1"/>
              </a:solidFill>
            </a:endParaRPr>
          </a:p>
        </p:txBody>
      </p:sp>
      <p:sp>
        <p:nvSpPr>
          <p:cNvPr id="254" name="Google Shape;254;p19"/>
          <p:cNvSpPr txBox="1"/>
          <p:nvPr>
            <p:ph type="title"/>
          </p:nvPr>
        </p:nvSpPr>
        <p:spPr>
          <a:xfrm>
            <a:off x="-75" y="65502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Fold “accordion style”</a:t>
            </a:r>
            <a:endParaRPr b="1" sz="3320">
              <a:solidFill>
                <a:schemeClr val="lt1"/>
              </a:solidFill>
            </a:endParaRPr>
          </a:p>
        </p:txBody>
      </p:sp>
      <p:pic>
        <p:nvPicPr>
          <p:cNvPr id="255" name="Google Shape;2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425" y="1585375"/>
            <a:ext cx="4969500" cy="294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 txBox="1"/>
          <p:nvPr>
            <p:ph type="title"/>
          </p:nvPr>
        </p:nvSpPr>
        <p:spPr>
          <a:xfrm>
            <a:off x="4978300" y="1712375"/>
            <a:ext cx="4746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</a:rPr>
              <a:t>Fold inward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</a:rPr>
              <a:t>Then outwards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</a:rPr>
              <a:t>Then inwards</a:t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 txBox="1"/>
          <p:nvPr>
            <p:ph type="title"/>
          </p:nvPr>
        </p:nvSpPr>
        <p:spPr>
          <a:xfrm>
            <a:off x="3699600" y="164050"/>
            <a:ext cx="174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Step 4</a:t>
            </a:r>
            <a:endParaRPr b="1" sz="3320">
              <a:solidFill>
                <a:schemeClr val="lt1"/>
              </a:solidFill>
            </a:endParaRPr>
          </a:p>
        </p:txBody>
      </p:sp>
      <p:sp>
        <p:nvSpPr>
          <p:cNvPr id="262" name="Google Shape;262;p20"/>
          <p:cNvSpPr txBox="1"/>
          <p:nvPr>
            <p:ph type="title"/>
          </p:nvPr>
        </p:nvSpPr>
        <p:spPr>
          <a:xfrm>
            <a:off x="-75" y="65502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Glue Coil in center</a:t>
            </a:r>
            <a:endParaRPr b="1" sz="3320">
              <a:solidFill>
                <a:schemeClr val="lt1"/>
              </a:solidFill>
            </a:endParaRPr>
          </a:p>
        </p:txBody>
      </p:sp>
      <p:pic>
        <p:nvPicPr>
          <p:cNvPr id="263" name="Google Shape;2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4150" y="1300875"/>
            <a:ext cx="3632771" cy="36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"/>
          <p:cNvSpPr txBox="1"/>
          <p:nvPr>
            <p:ph type="title"/>
          </p:nvPr>
        </p:nvSpPr>
        <p:spPr>
          <a:xfrm>
            <a:off x="3699600" y="164050"/>
            <a:ext cx="174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Step 5</a:t>
            </a:r>
            <a:endParaRPr b="1" sz="3320">
              <a:solidFill>
                <a:schemeClr val="lt1"/>
              </a:solidFill>
            </a:endParaRPr>
          </a:p>
        </p:txBody>
      </p:sp>
      <p:sp>
        <p:nvSpPr>
          <p:cNvPr id="269" name="Google Shape;269;p21"/>
          <p:cNvSpPr txBox="1"/>
          <p:nvPr>
            <p:ph type="title"/>
          </p:nvPr>
        </p:nvSpPr>
        <p:spPr>
          <a:xfrm>
            <a:off x="-75" y="65502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Glue bottom on</a:t>
            </a:r>
            <a:endParaRPr b="1" sz="3320">
              <a:solidFill>
                <a:schemeClr val="lt1"/>
              </a:solidFill>
            </a:endParaRPr>
          </a:p>
        </p:txBody>
      </p:sp>
      <p:pic>
        <p:nvPicPr>
          <p:cNvPr id="270" name="Google Shape;2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1588" y="1329700"/>
            <a:ext cx="5220687" cy="36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 txBox="1"/>
          <p:nvPr>
            <p:ph type="title"/>
          </p:nvPr>
        </p:nvSpPr>
        <p:spPr>
          <a:xfrm>
            <a:off x="3699600" y="164050"/>
            <a:ext cx="174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Step 6</a:t>
            </a:r>
            <a:endParaRPr b="1" sz="3320">
              <a:solidFill>
                <a:schemeClr val="lt1"/>
              </a:solidFill>
            </a:endParaRPr>
          </a:p>
        </p:txBody>
      </p:sp>
      <p:sp>
        <p:nvSpPr>
          <p:cNvPr id="276" name="Google Shape;276;p22"/>
          <p:cNvSpPr txBox="1"/>
          <p:nvPr>
            <p:ph type="title"/>
          </p:nvPr>
        </p:nvSpPr>
        <p:spPr>
          <a:xfrm>
            <a:off x="-75" y="65502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Assemble Cone</a:t>
            </a:r>
            <a:endParaRPr b="1" sz="3320">
              <a:solidFill>
                <a:schemeClr val="lt1"/>
              </a:solidFill>
            </a:endParaRPr>
          </a:p>
        </p:txBody>
      </p:sp>
      <p:pic>
        <p:nvPicPr>
          <p:cNvPr id="277" name="Google Shape;2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2138" y="1272050"/>
            <a:ext cx="4619585" cy="36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"/>
          <p:cNvSpPr txBox="1"/>
          <p:nvPr>
            <p:ph type="title"/>
          </p:nvPr>
        </p:nvSpPr>
        <p:spPr>
          <a:xfrm>
            <a:off x="3699600" y="164050"/>
            <a:ext cx="174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Step 7</a:t>
            </a:r>
            <a:endParaRPr b="1" sz="3320">
              <a:solidFill>
                <a:schemeClr val="lt1"/>
              </a:solidFill>
            </a:endParaRPr>
          </a:p>
        </p:txBody>
      </p:sp>
      <p:sp>
        <p:nvSpPr>
          <p:cNvPr id="283" name="Google Shape;283;p23"/>
          <p:cNvSpPr txBox="1"/>
          <p:nvPr>
            <p:ph type="title"/>
          </p:nvPr>
        </p:nvSpPr>
        <p:spPr>
          <a:xfrm>
            <a:off x="-75" y="65502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Attach Cone</a:t>
            </a:r>
            <a:endParaRPr b="1" sz="3320">
              <a:solidFill>
                <a:schemeClr val="lt1"/>
              </a:solidFill>
            </a:endParaRPr>
          </a:p>
        </p:txBody>
      </p:sp>
      <p:pic>
        <p:nvPicPr>
          <p:cNvPr id="284" name="Google Shape;28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9550" y="1351300"/>
            <a:ext cx="4324521" cy="36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"/>
          <p:cNvSpPr txBox="1"/>
          <p:nvPr>
            <p:ph type="title"/>
          </p:nvPr>
        </p:nvSpPr>
        <p:spPr>
          <a:xfrm>
            <a:off x="3699600" y="164050"/>
            <a:ext cx="174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Step 10</a:t>
            </a:r>
            <a:endParaRPr b="1" sz="3320">
              <a:solidFill>
                <a:schemeClr val="lt1"/>
              </a:solidFill>
            </a:endParaRPr>
          </a:p>
        </p:txBody>
      </p:sp>
      <p:sp>
        <p:nvSpPr>
          <p:cNvPr id="290" name="Google Shape;290;p24"/>
          <p:cNvSpPr txBox="1"/>
          <p:nvPr>
            <p:ph type="title"/>
          </p:nvPr>
        </p:nvSpPr>
        <p:spPr>
          <a:xfrm>
            <a:off x="-75" y="655025"/>
            <a:ext cx="9144000" cy="12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De-Enamel the wire</a:t>
            </a:r>
            <a:br>
              <a:rPr b="1" lang="en" sz="3320">
                <a:solidFill>
                  <a:schemeClr val="lt1"/>
                </a:solidFill>
              </a:rPr>
            </a:br>
            <a:r>
              <a:rPr b="1" lang="en" sz="3320">
                <a:solidFill>
                  <a:schemeClr val="lt1"/>
                </a:solidFill>
              </a:rPr>
              <a:t>(Raise your hand)</a:t>
            </a:r>
            <a:endParaRPr b="1" sz="3320">
              <a:solidFill>
                <a:schemeClr val="lt1"/>
              </a:solidFill>
            </a:endParaRPr>
          </a:p>
        </p:txBody>
      </p:sp>
      <p:pic>
        <p:nvPicPr>
          <p:cNvPr id="291" name="Google Shape;29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9388" y="1972150"/>
            <a:ext cx="2745225" cy="274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6e4796a3a2_2_9"/>
          <p:cNvSpPr txBox="1"/>
          <p:nvPr>
            <p:ph type="title"/>
          </p:nvPr>
        </p:nvSpPr>
        <p:spPr>
          <a:xfrm>
            <a:off x="3699600" y="164050"/>
            <a:ext cx="174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Step 8</a:t>
            </a:r>
            <a:endParaRPr b="1" sz="3320">
              <a:solidFill>
                <a:schemeClr val="lt1"/>
              </a:solidFill>
            </a:endParaRPr>
          </a:p>
        </p:txBody>
      </p:sp>
      <p:sp>
        <p:nvSpPr>
          <p:cNvPr id="297" name="Google Shape;297;g36e4796a3a2_2_9"/>
          <p:cNvSpPr txBox="1"/>
          <p:nvPr>
            <p:ph type="title"/>
          </p:nvPr>
        </p:nvSpPr>
        <p:spPr>
          <a:xfrm>
            <a:off x="-75" y="655025"/>
            <a:ext cx="91440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Sandpaper the ends of the wires</a:t>
            </a:r>
            <a:endParaRPr b="1" sz="332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(should become a different color)</a:t>
            </a:r>
            <a:endParaRPr b="1" sz="3320">
              <a:solidFill>
                <a:schemeClr val="lt1"/>
              </a:solidFill>
            </a:endParaRPr>
          </a:p>
        </p:txBody>
      </p:sp>
      <p:pic>
        <p:nvPicPr>
          <p:cNvPr id="298" name="Google Shape;298;g36e4796a3a2_2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25925" y="1784774"/>
            <a:ext cx="4921126" cy="492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"/>
          <p:cNvSpPr txBox="1"/>
          <p:nvPr>
            <p:ph type="title"/>
          </p:nvPr>
        </p:nvSpPr>
        <p:spPr>
          <a:xfrm>
            <a:off x="3699600" y="164050"/>
            <a:ext cx="174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Step 9</a:t>
            </a:r>
            <a:endParaRPr b="1" sz="3320">
              <a:solidFill>
                <a:schemeClr val="lt1"/>
              </a:solidFill>
            </a:endParaRPr>
          </a:p>
        </p:txBody>
      </p:sp>
      <p:sp>
        <p:nvSpPr>
          <p:cNvPr id="304" name="Google Shape;304;p25"/>
          <p:cNvSpPr txBox="1"/>
          <p:nvPr>
            <p:ph type="title"/>
          </p:nvPr>
        </p:nvSpPr>
        <p:spPr>
          <a:xfrm>
            <a:off x="931250" y="736750"/>
            <a:ext cx="7947000" cy="12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solidFill>
                  <a:schemeClr val="lt1"/>
                </a:solidFill>
              </a:rPr>
              <a:t>Hand your wires to a volunteer to Solder on</a:t>
            </a:r>
            <a:endParaRPr b="1" sz="3320">
              <a:solidFill>
                <a:schemeClr val="lt1"/>
              </a:solidFill>
            </a:endParaRPr>
          </a:p>
        </p:txBody>
      </p:sp>
      <p:pic>
        <p:nvPicPr>
          <p:cNvPr id="305" name="Google Shape;3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3217812" y="1531399"/>
            <a:ext cx="2708230" cy="361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62d2e73d08_0_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15" name="Google Shape;315;g362d2e73d08_0_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16" name="Google Shape;316;g362d2e73d08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7"/>
          <p:cNvSpPr txBox="1"/>
          <p:nvPr>
            <p:ph type="title"/>
          </p:nvPr>
        </p:nvSpPr>
        <p:spPr>
          <a:xfrm>
            <a:off x="3387600" y="505775"/>
            <a:ext cx="23688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b="1" lang="en" sz="3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Thank You</a:t>
            </a:r>
            <a:endParaRPr b="1" sz="36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b="1" lang="en" sz="3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IEEE UCF</a:t>
            </a:r>
            <a:endParaRPr b="1" sz="36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62d2e73d08_0_15"/>
          <p:cNvSpPr txBox="1"/>
          <p:nvPr>
            <p:ph type="title"/>
          </p:nvPr>
        </p:nvSpPr>
        <p:spPr>
          <a:xfrm>
            <a:off x="3425550" y="261200"/>
            <a:ext cx="2292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Do it at home!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27" name="Google Shape;327;g362d2e73d08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0588" y="935500"/>
            <a:ext cx="3462825" cy="343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